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70" r:id="rId6"/>
    <p:sldId id="257" r:id="rId7"/>
    <p:sldId id="258" r:id="rId8"/>
    <p:sldId id="259" r:id="rId9"/>
    <p:sldId id="260" r:id="rId10"/>
    <p:sldId id="261" r:id="rId11"/>
    <p:sldId id="271" r:id="rId12"/>
    <p:sldId id="262" r:id="rId13"/>
    <p:sldId id="263" r:id="rId14"/>
    <p:sldId id="264" r:id="rId15"/>
    <p:sldId id="265" r:id="rId16"/>
    <p:sldId id="266" r:id="rId17"/>
    <p:sldId id="267" r:id="rId18"/>
    <p:sldId id="272" r:id="rId19"/>
    <p:sldId id="268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</c:v>
                </c:pt>
                <c:pt idx="1">
                  <c:v>OTHER</c:v>
                </c:pt>
                <c:pt idx="2">
                  <c:v>EN</c:v>
                </c:pt>
                <c:pt idx="3">
                  <c:v>AR-LAT</c:v>
                </c:pt>
                <c:pt idx="4">
                  <c:v>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99.6</c:v>
                </c:pt>
                <c:pt idx="1">
                  <c:v>98</c:v>
                </c:pt>
                <c:pt idx="2">
                  <c:v>93.8</c:v>
                </c:pt>
                <c:pt idx="3">
                  <c:v>87.2</c:v>
                </c:pt>
                <c:pt idx="4">
                  <c:v>83.5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C-4C57-9BEB-4D032ABB40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Zero-shot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GPT o4-mini</c:v>
                </c:pt>
                <c:pt idx="1">
                  <c:v>Claude</c:v>
                </c:pt>
                <c:pt idx="2">
                  <c:v>Gemini</c:v>
                </c:pt>
                <c:pt idx="3">
                  <c:v>LLaMA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0.621</c:v>
                </c:pt>
                <c:pt idx="1">
                  <c:v>0.68300000000000005</c:v>
                </c:pt>
                <c:pt idx="2">
                  <c:v>0.68</c:v>
                </c:pt>
                <c:pt idx="3">
                  <c:v>0.61799999999999999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3-4440-B7BF-71ECBF48A5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Few-shot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GPT o4-mini</c:v>
                </c:pt>
                <c:pt idx="1">
                  <c:v>Claude</c:v>
                </c:pt>
                <c:pt idx="2">
                  <c:v>Gemini</c:v>
                </c:pt>
                <c:pt idx="3">
                  <c:v>LLaMA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0.64900000000000002</c:v>
                </c:pt>
                <c:pt idx="1">
                  <c:v>0.68200000000000005</c:v>
                </c:pt>
                <c:pt idx="2">
                  <c:v>0.66100000000000003</c:v>
                </c:pt>
                <c:pt idx="3">
                  <c:v>0.60799999999999998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53-4440-B7BF-71ECBF48A5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34155"/>
                </a:solidFill>
                <a:latin typeface="Arial"/>
              </a:rPr>
              <a:t>Accuracy by Dataset (Original Gold)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Arabizi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o4-mini ZS</c:v>
                </c:pt>
                <c:pt idx="1">
                  <c:v>o4-mini FS</c:v>
                </c:pt>
                <c:pt idx="2">
                  <c:v>Claude ZS</c:v>
                </c:pt>
                <c:pt idx="3">
                  <c:v>Claude FS</c:v>
                </c:pt>
                <c:pt idx="4">
                  <c:v>Gemini ZS</c:v>
                </c:pt>
                <c:pt idx="5">
                  <c:v>Gemini FS</c:v>
                </c:pt>
                <c:pt idx="6">
                  <c:v>LLaMA ZS</c:v>
                </c:pt>
                <c:pt idx="7">
                  <c:v>LLaMA FS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0.92300000000000004</c:v>
                </c:pt>
                <c:pt idx="1">
                  <c:v>0.92500000000000004</c:v>
                </c:pt>
                <c:pt idx="2">
                  <c:v>0.92400000000000004</c:v>
                </c:pt>
                <c:pt idx="3">
                  <c:v>0.92400000000000004</c:v>
                </c:pt>
                <c:pt idx="4">
                  <c:v>0.92700000000000005</c:v>
                </c:pt>
                <c:pt idx="5">
                  <c:v>0.92800000000000005</c:v>
                </c:pt>
                <c:pt idx="6">
                  <c:v>0.90800000000000003</c:v>
                </c:pt>
                <c:pt idx="7">
                  <c:v>0.91400000000000003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5A-441D-B46B-32B154645E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AR-EN CS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o4-mini ZS</c:v>
                </c:pt>
                <c:pt idx="1">
                  <c:v>o4-mini FS</c:v>
                </c:pt>
                <c:pt idx="2">
                  <c:v>Claude ZS</c:v>
                </c:pt>
                <c:pt idx="3">
                  <c:v>Claude FS</c:v>
                </c:pt>
                <c:pt idx="4">
                  <c:v>Gemini ZS</c:v>
                </c:pt>
                <c:pt idx="5">
                  <c:v>Gemini FS</c:v>
                </c:pt>
                <c:pt idx="6">
                  <c:v>LLaMA ZS</c:v>
                </c:pt>
                <c:pt idx="7">
                  <c:v>LLaMA FS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0.55200000000000005</c:v>
                </c:pt>
                <c:pt idx="1">
                  <c:v>0.52300000000000002</c:v>
                </c:pt>
                <c:pt idx="2">
                  <c:v>0.55600000000000005</c:v>
                </c:pt>
                <c:pt idx="3">
                  <c:v>0.56200000000000006</c:v>
                </c:pt>
                <c:pt idx="4">
                  <c:v>0.56799999999999995</c:v>
                </c:pt>
                <c:pt idx="5">
                  <c:v>0.57699999999999996</c:v>
                </c:pt>
                <c:pt idx="6">
                  <c:v>0.53200000000000003</c:v>
                </c:pt>
                <c:pt idx="7">
                  <c:v>0.55300000000000005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5A-441D-B46B-32B154645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E96-4D17-8812-A46583A78B91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96-4D17-8812-A46583A78B91}"/>
              </c:ext>
            </c:extLst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96-4D17-8812-A46583A78B91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96-4D17-8812-A46583A78B91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E96-4D17-8812-A46583A78B91}"/>
              </c:ext>
            </c:extLst>
          </c:dPt>
          <c:dPt>
            <c:idx val="5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E96-4D17-8812-A46583A78B9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6-4D17-8812-A46583A78B9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6-4D17-8812-A46583A78B9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6-4D17-8812-A46583A78B9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6-4D17-8812-A46583A78B9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96-4D17-8812-A46583A78B9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E96-4D17-8812-A46583A78B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AR-LAT→EN</c:v>
                </c:pt>
                <c:pt idx="1">
                  <c:v>OTHER→EN</c:v>
                </c:pt>
                <c:pt idx="2">
                  <c:v>AR→EN</c:v>
                </c:pt>
                <c:pt idx="3">
                  <c:v>EN→OTHER</c:v>
                </c:pt>
                <c:pt idx="4">
                  <c:v>EN→AR-LAT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38.1</c:v>
                </c:pt>
                <c:pt idx="1">
                  <c:v>14.9</c:v>
                </c:pt>
                <c:pt idx="2">
                  <c:v>9.9</c:v>
                </c:pt>
                <c:pt idx="3">
                  <c:v>9</c:v>
                </c:pt>
                <c:pt idx="4">
                  <c:v>5.9</c:v>
                </c:pt>
                <c:pt idx="5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E96-4D17-8812-A46583A78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14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6FCA31B-D6D3-7DA3-4099-1FAA7EB0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064" y="0"/>
            <a:ext cx="3735421" cy="515799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5880" y="7315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Code-Switching in</a:t>
            </a:r>
            <a:endParaRPr lang="en-US" sz="2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Arabic-English Tasks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75880" y="226542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LLMs on Arabizi and Mixed Arabic-English Text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5880" y="292608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5880" y="32644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Joudeh  ·  Seyed Almadani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Abdulaziz Mohammed  ·  Abdallah Almekhyal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 · Department of Computer Science · Kuwait University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5880" y="427506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b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Lulwah Alkulaib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C24D3A-3FFC-5781-5FCC-8FDF2E760162}"/>
              </a:ext>
            </a:extLst>
          </p:cNvPr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A86180B-6D79-C107-E398-AC690E7E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0E2916A-8688-2EF4-36D5-788EB9C7F482}"/>
              </a:ext>
            </a:extLst>
          </p:cNvPr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91C46F0-3C48-0ABB-7ED0-096A4C7FFF65}"/>
              </a:ext>
            </a:extLst>
          </p:cNvPr>
          <p:cNvSpPr/>
          <p:nvPr/>
        </p:nvSpPr>
        <p:spPr>
          <a:xfrm>
            <a:off x="548640" y="10972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3365381-CFE1-FF65-696F-ECA902E4403E}"/>
              </a:ext>
            </a:extLst>
          </p:cNvPr>
          <p:cNvSpPr/>
          <p:nvPr/>
        </p:nvSpPr>
        <p:spPr>
          <a:xfrm>
            <a:off x="548640" y="109728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60D0A2E-3F19-C968-244D-8F9E5F5D01CC}"/>
              </a:ext>
            </a:extLst>
          </p:cNvPr>
          <p:cNvSpPr/>
          <p:nvPr/>
        </p:nvSpPr>
        <p:spPr>
          <a:xfrm>
            <a:off x="731520" y="120700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AC00852-B66A-C7F8-7171-64E58A963DBE}"/>
              </a:ext>
            </a:extLst>
          </p:cNvPr>
          <p:cNvSpPr/>
          <p:nvPr/>
        </p:nvSpPr>
        <p:spPr>
          <a:xfrm>
            <a:off x="73152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51A961E-6B9E-41AF-5BB2-BE1006688729}"/>
              </a:ext>
            </a:extLst>
          </p:cNvPr>
          <p:cNvSpPr/>
          <p:nvPr/>
        </p:nvSpPr>
        <p:spPr>
          <a:xfrm>
            <a:off x="1234440" y="1097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Questions</a:t>
            </a:r>
            <a:endParaRPr lang="en-US" sz="1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801DE94-C000-B469-4354-FFA77B920670}"/>
              </a:ext>
            </a:extLst>
          </p:cNvPr>
          <p:cNvSpPr/>
          <p:nvPr/>
        </p:nvSpPr>
        <p:spPr>
          <a:xfrm>
            <a:off x="548640" y="18288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9A8CA05-B5B9-5BB4-9A1E-C36976E699D0}"/>
              </a:ext>
            </a:extLst>
          </p:cNvPr>
          <p:cNvSpPr/>
          <p:nvPr/>
        </p:nvSpPr>
        <p:spPr>
          <a:xfrm>
            <a:off x="548640" y="182880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57179C5-8D05-94A3-C4BD-43FAC00D922D}"/>
              </a:ext>
            </a:extLst>
          </p:cNvPr>
          <p:cNvSpPr/>
          <p:nvPr/>
        </p:nvSpPr>
        <p:spPr>
          <a:xfrm>
            <a:off x="731520" y="19385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655D70C-981E-B9CF-2809-DA6B98F30E27}"/>
              </a:ext>
            </a:extLst>
          </p:cNvPr>
          <p:cNvSpPr/>
          <p:nvPr/>
        </p:nvSpPr>
        <p:spPr>
          <a:xfrm>
            <a:off x="73152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32DBC80-4936-3E1F-2BC8-F9BD5BF5DBBC}"/>
              </a:ext>
            </a:extLst>
          </p:cNvPr>
          <p:cNvSpPr/>
          <p:nvPr/>
        </p:nvSpPr>
        <p:spPr>
          <a:xfrm>
            <a:off x="123444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Annotation</a:t>
            </a:r>
            <a:endParaRPr lang="en-US" sz="14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B10ACCF-CB0C-3019-906B-E629180020A8}"/>
              </a:ext>
            </a:extLst>
          </p:cNvPr>
          <p:cNvSpPr/>
          <p:nvPr/>
        </p:nvSpPr>
        <p:spPr>
          <a:xfrm>
            <a:off x="548640" y="25603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E189440-AD28-3972-9EBE-EEE766C25698}"/>
              </a:ext>
            </a:extLst>
          </p:cNvPr>
          <p:cNvSpPr/>
          <p:nvPr/>
        </p:nvSpPr>
        <p:spPr>
          <a:xfrm>
            <a:off x="548640" y="256032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EEBA844-13F0-B691-25CE-19DC84903AF1}"/>
              </a:ext>
            </a:extLst>
          </p:cNvPr>
          <p:cNvSpPr/>
          <p:nvPr/>
        </p:nvSpPr>
        <p:spPr>
          <a:xfrm>
            <a:off x="731520" y="267004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4A75EA1-B590-D0F7-10A6-3D9F00E1BE62}"/>
              </a:ext>
            </a:extLst>
          </p:cNvPr>
          <p:cNvSpPr/>
          <p:nvPr/>
        </p:nvSpPr>
        <p:spPr>
          <a:xfrm>
            <a:off x="73152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D8E0EF3-A3B3-8119-8F88-26D5F007BB30}"/>
              </a:ext>
            </a:extLst>
          </p:cNvPr>
          <p:cNvSpPr/>
          <p:nvPr/>
        </p:nvSpPr>
        <p:spPr>
          <a:xfrm>
            <a:off x="123444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Metrics</a:t>
            </a:r>
            <a:endParaRPr lang="en-US" sz="1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DF9F4F3-B44E-ADA9-6E4F-C572C74A1158}"/>
              </a:ext>
            </a:extLst>
          </p:cNvPr>
          <p:cNvSpPr/>
          <p:nvPr/>
        </p:nvSpPr>
        <p:spPr>
          <a:xfrm>
            <a:off x="548640" y="32918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42DEF66-92C8-359C-8C43-34996448ED7E}"/>
              </a:ext>
            </a:extLst>
          </p:cNvPr>
          <p:cNvSpPr/>
          <p:nvPr/>
        </p:nvSpPr>
        <p:spPr>
          <a:xfrm>
            <a:off x="548640" y="329184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D1F92CC-7BF6-F09C-167C-CCD19051A80D}"/>
              </a:ext>
            </a:extLst>
          </p:cNvPr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0ED7436-CAAC-39EE-5E0F-86939D7296E8}"/>
              </a:ext>
            </a:extLst>
          </p:cNvPr>
          <p:cNvSpPr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DDBC416-DA94-6FB9-49C7-0C571A5FA943}"/>
              </a:ext>
            </a:extLst>
          </p:cNvPr>
          <p:cNvSpPr/>
          <p:nvPr/>
        </p:nvSpPr>
        <p:spPr>
          <a:xfrm>
            <a:off x="1234440" y="3291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DAEC742-C32D-CAA4-E15F-3A6C4535CCDF}"/>
              </a:ext>
            </a:extLst>
          </p:cNvPr>
          <p:cNvSpPr/>
          <p:nvPr/>
        </p:nvSpPr>
        <p:spPr>
          <a:xfrm>
            <a:off x="548640" y="402336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5AAC398-4698-551C-1DB7-9DF1E66391F1}"/>
              </a:ext>
            </a:extLst>
          </p:cNvPr>
          <p:cNvSpPr/>
          <p:nvPr/>
        </p:nvSpPr>
        <p:spPr>
          <a:xfrm>
            <a:off x="548640" y="402336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67359A5-4615-A116-EEC9-6D0FCD4421B6}"/>
              </a:ext>
            </a:extLst>
          </p:cNvPr>
          <p:cNvSpPr/>
          <p:nvPr/>
        </p:nvSpPr>
        <p:spPr>
          <a:xfrm>
            <a:off x="731520" y="413308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10E8ED0-F35A-2D95-5D0D-0FF7DB05C94F}"/>
              </a:ext>
            </a:extLst>
          </p:cNvPr>
          <p:cNvSpPr/>
          <p:nvPr/>
        </p:nvSpPr>
        <p:spPr>
          <a:xfrm>
            <a:off x="73152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4125E49-AA38-1E7B-6D9B-50E7B5556452}"/>
              </a:ext>
            </a:extLst>
          </p:cNvPr>
          <p:cNvSpPr/>
          <p:nvPr/>
        </p:nvSpPr>
        <p:spPr>
          <a:xfrm>
            <a:off x="1234440" y="4023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Gold-Label Discovery</a:t>
            </a:r>
            <a:endParaRPr lang="en-US" sz="14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FCB4AE9-C593-947D-9B24-73A7EB185722}"/>
              </a:ext>
            </a:extLst>
          </p:cNvPr>
          <p:cNvSpPr/>
          <p:nvPr/>
        </p:nvSpPr>
        <p:spPr>
          <a:xfrm>
            <a:off x="4937760" y="10972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6940ED6-E2CF-3A80-F837-BC59FE8CEEEA}"/>
              </a:ext>
            </a:extLst>
          </p:cNvPr>
          <p:cNvSpPr/>
          <p:nvPr/>
        </p:nvSpPr>
        <p:spPr>
          <a:xfrm>
            <a:off x="4937760" y="109728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75FA9CFE-7DED-97CF-F20B-67A74DA2C07D}"/>
              </a:ext>
            </a:extLst>
          </p:cNvPr>
          <p:cNvSpPr/>
          <p:nvPr/>
        </p:nvSpPr>
        <p:spPr>
          <a:xfrm>
            <a:off x="5120640" y="12070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5E723D3-1DC4-B47B-3BB9-AB54E34023D1}"/>
              </a:ext>
            </a:extLst>
          </p:cNvPr>
          <p:cNvSpPr/>
          <p:nvPr/>
        </p:nvSpPr>
        <p:spPr>
          <a:xfrm>
            <a:off x="512064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FC93E261-20C9-9714-95AB-D8E44E40B782}"/>
              </a:ext>
            </a:extLst>
          </p:cNvPr>
          <p:cNvSpPr/>
          <p:nvPr/>
        </p:nvSpPr>
        <p:spPr>
          <a:xfrm>
            <a:off x="5623560" y="1097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4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CAC9025-12C5-8633-9798-43E30C01CED3}"/>
              </a:ext>
            </a:extLst>
          </p:cNvPr>
          <p:cNvSpPr/>
          <p:nvPr/>
        </p:nvSpPr>
        <p:spPr>
          <a:xfrm>
            <a:off x="4937760" y="18288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3A1A2AD5-2871-AB66-FEF3-282DB694137D}"/>
              </a:ext>
            </a:extLst>
          </p:cNvPr>
          <p:cNvSpPr/>
          <p:nvPr/>
        </p:nvSpPr>
        <p:spPr>
          <a:xfrm>
            <a:off x="4937760" y="182880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3F01917-93C4-9D16-D233-5D43B4308298}"/>
              </a:ext>
            </a:extLst>
          </p:cNvPr>
          <p:cNvSpPr/>
          <p:nvPr/>
        </p:nvSpPr>
        <p:spPr>
          <a:xfrm>
            <a:off x="5120640" y="193852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62301C1-BAAE-5F8E-5FBD-9699B5E92B52}"/>
              </a:ext>
            </a:extLst>
          </p:cNvPr>
          <p:cNvSpPr/>
          <p:nvPr/>
        </p:nvSpPr>
        <p:spPr>
          <a:xfrm>
            <a:off x="51206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795BEB72-7F4E-911D-3A64-A9496A765310}"/>
              </a:ext>
            </a:extLst>
          </p:cNvPr>
          <p:cNvSpPr/>
          <p:nvPr/>
        </p:nvSpPr>
        <p:spPr>
          <a:xfrm>
            <a:off x="562356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&amp; Ablation</a:t>
            </a:r>
            <a:endParaRPr lang="en-US" sz="14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8A214264-783D-6377-D2DB-E17653AC6242}"/>
              </a:ext>
            </a:extLst>
          </p:cNvPr>
          <p:cNvSpPr/>
          <p:nvPr/>
        </p:nvSpPr>
        <p:spPr>
          <a:xfrm>
            <a:off x="4937760" y="25603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AD672F6E-F774-4FCA-0A92-6C6CF71E3251}"/>
              </a:ext>
            </a:extLst>
          </p:cNvPr>
          <p:cNvSpPr/>
          <p:nvPr/>
        </p:nvSpPr>
        <p:spPr>
          <a:xfrm>
            <a:off x="4937760" y="256032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35028624-72CA-08DC-7D31-41E0F5C4B5B3}"/>
              </a:ext>
            </a:extLst>
          </p:cNvPr>
          <p:cNvSpPr/>
          <p:nvPr/>
        </p:nvSpPr>
        <p:spPr>
          <a:xfrm>
            <a:off x="5120640" y="267004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8E9507B-6C82-1757-3808-9803B112B43D}"/>
              </a:ext>
            </a:extLst>
          </p:cNvPr>
          <p:cNvSpPr/>
          <p:nvPr/>
        </p:nvSpPr>
        <p:spPr>
          <a:xfrm>
            <a:off x="5120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756F962-0A4D-5E14-E6AE-9494450E560B}"/>
              </a:ext>
            </a:extLst>
          </p:cNvPr>
          <p:cNvSpPr/>
          <p:nvPr/>
        </p:nvSpPr>
        <p:spPr>
          <a:xfrm>
            <a:off x="562356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400" dirty="0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D261AB9B-E1C0-1E23-E4D2-B6A36DCD70AB}"/>
              </a:ext>
            </a:extLst>
          </p:cNvPr>
          <p:cNvSpPr/>
          <p:nvPr/>
        </p:nvSpPr>
        <p:spPr>
          <a:xfrm>
            <a:off x="4937760" y="32918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9ED4DDE1-11D2-C6E8-C3A1-F12F369ABD30}"/>
              </a:ext>
            </a:extLst>
          </p:cNvPr>
          <p:cNvSpPr/>
          <p:nvPr/>
        </p:nvSpPr>
        <p:spPr>
          <a:xfrm>
            <a:off x="4937760" y="32918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1A9BF2C-8CDD-242E-A209-49D36AC8D860}"/>
              </a:ext>
            </a:extLst>
          </p:cNvPr>
          <p:cNvSpPr/>
          <p:nvPr/>
        </p:nvSpPr>
        <p:spPr>
          <a:xfrm>
            <a:off x="5120640" y="340156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990A8E5F-DD5C-C53B-EAB0-46455F9E33EF}"/>
              </a:ext>
            </a:extLst>
          </p:cNvPr>
          <p:cNvSpPr/>
          <p:nvPr/>
        </p:nvSpPr>
        <p:spPr>
          <a:xfrm>
            <a:off x="512064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600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C5C08476-10C8-8CD2-321C-C174EA08FF69}"/>
              </a:ext>
            </a:extLst>
          </p:cNvPr>
          <p:cNvSpPr/>
          <p:nvPr/>
        </p:nvSpPr>
        <p:spPr>
          <a:xfrm>
            <a:off x="5623560" y="3291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Q&amp;A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760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Code-Switching Matters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Phenomenon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speakers on social media routinely mix: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script + English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Arabizi (Latin-script Arabic with numerals: 3 = ع, 7 = ح)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languages (e.g., French)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 raye7 el jam3a today"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largely untested on Arabic-English code-switching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focused on translation or encoder-based models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Arabizi adds complexity most benchmarks ignore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evaluation of LLMs on script-level token identification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 &amp; Hypotheses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How accurately can LLMs perform token-level language identification on code-switched text?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 (Arabizi) tokens will have lower F1 than AR and EN tokens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will yield higher macro F1 than zero-shot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will perform differently across the two datasets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How do different LLMs compare on Arabic-English token-level LID?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</a:t>
            </a:r>
            <a:r>
              <a:rPr lang="en-US" sz="1200" dirty="0"/>
              <a:t>Models difference significantly in token-level accuracy, macro F1 is used for ranking.</a:t>
            </a:r>
          </a:p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on AR will also rank first on AR-LAT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testable, falsifiable hypotheses mapped to specific comparison rows in results tables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0292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Arabizi (WANLP 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AR-EN CS (Kaggle 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30,321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tokens/sent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tokens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tokens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tokens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 / Reddit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/ FB / Twitter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51560"/>
            <a:ext cx="2926080" cy="2560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350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Two?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35040" y="150876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coverage: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Arabizi corpus = English-dominant, Latin-script mixing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AR-EN CS corpus = Arabic-dominant, script-based mixing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5,081 sentences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60,131 tokens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5-Label Scheme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206240"/>
            <a:ext cx="1554480" cy="502920"/>
          </a:xfrm>
          <a:prstGeom prst="rect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4864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script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67712" y="4206240"/>
            <a:ext cx="1554480" cy="502920"/>
          </a:xfrm>
          <a:prstGeom prst="rect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267712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67712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986784" y="4206240"/>
            <a:ext cx="1554480" cy="50292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986784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986784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Arabizi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05856" y="4206240"/>
            <a:ext cx="1554480" cy="502920"/>
          </a:xfrm>
          <a:prstGeom prst="rect">
            <a:avLst/>
          </a:prstGeom>
          <a:solidFill>
            <a:srgbClr val="94A3B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05856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705856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Punct/symbols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424928" y="4206240"/>
            <a:ext cx="1554480" cy="50292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424928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424928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 &amp; Inter-Annotator Agreement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annotators independently labeled 250 code-switched sentences (2,952 tokens) from the Arabizi dataset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to cover all label categories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purely monolingual English sentences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discussion between annotators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05840"/>
          <a:ext cx="3840480" cy="1600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1 vs 2 (Cohen)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1 vs 3 (Cohen)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2 vs 3 (Cohen)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Fleiss' κ (overall)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Per-Label Agreement Rates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3200400"/>
          <a:ext cx="41148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5120640" y="3108960"/>
            <a:ext cx="347472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512064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4800" dirty="0"/>
          </a:p>
        </p:txBody>
      </p:sp>
      <p:sp>
        <p:nvSpPr>
          <p:cNvPr id="11" name="Text 6"/>
          <p:cNvSpPr/>
          <p:nvPr/>
        </p:nvSpPr>
        <p:spPr>
          <a:xfrm>
            <a:off x="530352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2,952 tokens with any disagreement (1.2%)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30352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0.80 reliability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 o4-mini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o-series reasoning model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64008" cy="868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Sonnet 4.6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First CS eval for this model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0574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05740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2.5 Flash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Optimized for speed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20574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3440" y="205740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4632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3.3 70B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(open-source) — Via Together AI API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Parameters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882451"/>
              </p:ext>
            </p:extLst>
          </p:nvPr>
        </p:nvGraphicFramePr>
        <p:xfrm>
          <a:off x="548640" y="3474720"/>
          <a:ext cx="384048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(250/dataset)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(all 5 labels)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Strategies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937760" y="3474720"/>
            <a:ext cx="384048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12064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instructions + label definitions + JSON format + compliance rules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937760" y="4206240"/>
            <a:ext cx="384048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12064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zero-shot + 5 worked examples covering all 5 labels (no overlap with eval set)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5E524F-E9EB-D66D-7B3F-ED7EE9DD38ED}"/>
              </a:ext>
            </a:extLst>
          </p:cNvPr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5A0D52F-4DA0-460E-13C0-C4D2F3D8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AB76981-40C7-C80D-5CE6-D94045CE7A36}"/>
              </a:ext>
            </a:extLst>
          </p:cNvPr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DE5D235-B47D-CAA9-7CDC-0E8888580537}"/>
              </a:ext>
            </a:extLst>
          </p:cNvPr>
          <p:cNvSpPr/>
          <p:nvPr/>
        </p:nvSpPr>
        <p:spPr>
          <a:xfrm>
            <a:off x="548640" y="1051560"/>
            <a:ext cx="3840480" cy="14630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08D5BF0-76EB-C778-2D83-7A0750684D45}"/>
              </a:ext>
            </a:extLst>
          </p:cNvPr>
          <p:cNvSpPr/>
          <p:nvPr/>
        </p:nvSpPr>
        <p:spPr>
          <a:xfrm>
            <a:off x="548640" y="1051560"/>
            <a:ext cx="64008" cy="1463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1E9BB3-BF45-CBB5-FDB2-B02CB46C76FB}"/>
              </a:ext>
            </a:extLst>
          </p:cNvPr>
          <p:cNvSpPr/>
          <p:nvPr/>
        </p:nvSpPr>
        <p:spPr>
          <a:xfrm>
            <a:off x="77724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78AD7E7-4B69-F192-9CBB-3A50112CD05D}"/>
              </a:ext>
            </a:extLst>
          </p:cNvPr>
          <p:cNvSpPr/>
          <p:nvPr/>
        </p:nvSpPr>
        <p:spPr>
          <a:xfrm>
            <a:off x="7772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 F1</a:t>
            </a:r>
            <a:endParaRPr lang="en-US" sz="2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D2669F2-4C88-498C-590B-889AF034747B}"/>
              </a:ext>
            </a:extLst>
          </p:cNvPr>
          <p:cNvSpPr/>
          <p:nvPr/>
        </p:nvSpPr>
        <p:spPr>
          <a:xfrm>
            <a:off x="77724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average F1 across all 5 labels — gives equal importance to rare labels like OL and AR-LAT, avoiding inflated scores from dominant classes.</a:t>
            </a:r>
            <a:endParaRPr lang="en-US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2613273-0C2E-3924-CB61-9172200060EA}"/>
              </a:ext>
            </a:extLst>
          </p:cNvPr>
          <p:cNvSpPr/>
          <p:nvPr/>
        </p:nvSpPr>
        <p:spPr>
          <a:xfrm>
            <a:off x="4754880" y="105156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C932BDC-C3A0-D594-EE76-4A7C5EC3FFEB}"/>
              </a:ext>
            </a:extLst>
          </p:cNvPr>
          <p:cNvSpPr/>
          <p:nvPr/>
        </p:nvSpPr>
        <p:spPr>
          <a:xfrm>
            <a:off x="4754880" y="10515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ECA8B63-23A9-6BE3-4CFD-21F80E06A600}"/>
              </a:ext>
            </a:extLst>
          </p:cNvPr>
          <p:cNvSpPr/>
          <p:nvPr/>
        </p:nvSpPr>
        <p:spPr>
          <a:xfrm>
            <a:off x="4892040" y="1097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Token-Level Accuracy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7541E4E-9AFF-5E47-DC0A-FE3733DF9749}"/>
              </a:ext>
            </a:extLst>
          </p:cNvPr>
          <p:cNvSpPr/>
          <p:nvPr/>
        </p:nvSpPr>
        <p:spPr>
          <a:xfrm>
            <a:off x="4892040" y="1344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of correctly labeled tokens — simple global measure</a:t>
            </a:r>
            <a:endParaRPr lang="en-US" sz="9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C09E19D-A3E9-EB87-DDC6-551103E5105C}"/>
              </a:ext>
            </a:extLst>
          </p:cNvPr>
          <p:cNvSpPr/>
          <p:nvPr/>
        </p:nvSpPr>
        <p:spPr>
          <a:xfrm>
            <a:off x="6858000" y="105156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9F337AA-931C-880A-9FE8-24C1F285BA1A}"/>
              </a:ext>
            </a:extLst>
          </p:cNvPr>
          <p:cNvSpPr/>
          <p:nvPr/>
        </p:nvSpPr>
        <p:spPr>
          <a:xfrm>
            <a:off x="6858000" y="10515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8F5EB07-C8FD-C276-E8DD-35AC49AE6893}"/>
              </a:ext>
            </a:extLst>
          </p:cNvPr>
          <p:cNvSpPr/>
          <p:nvPr/>
        </p:nvSpPr>
        <p:spPr>
          <a:xfrm>
            <a:off x="6995160" y="1097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 F1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67D2A22-1D6E-C055-1A0E-C9234399C1DD}"/>
              </a:ext>
            </a:extLst>
          </p:cNvPr>
          <p:cNvSpPr/>
          <p:nvPr/>
        </p:nvSpPr>
        <p:spPr>
          <a:xfrm>
            <a:off x="6995160" y="1344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weighted by label frequency — global performance summary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978C658-4AC0-1E71-9AEE-989D8678E314}"/>
              </a:ext>
            </a:extLst>
          </p:cNvPr>
          <p:cNvSpPr/>
          <p:nvPr/>
        </p:nvSpPr>
        <p:spPr>
          <a:xfrm>
            <a:off x="4754880" y="182880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51F9687-8ED0-8910-2109-0BEEC8E02AAD}"/>
              </a:ext>
            </a:extLst>
          </p:cNvPr>
          <p:cNvSpPr/>
          <p:nvPr/>
        </p:nvSpPr>
        <p:spPr>
          <a:xfrm>
            <a:off x="4754880" y="182880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6F5B507-D0DD-6BB2-8C4F-6EB0586DC779}"/>
              </a:ext>
            </a:extLst>
          </p:cNvPr>
          <p:cNvSpPr/>
          <p:nvPr/>
        </p:nvSpPr>
        <p:spPr>
          <a:xfrm>
            <a:off x="489204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Per-Label P / R / F1</a:t>
            </a:r>
            <a:endParaRPr lang="en-US" sz="1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0052ED0-C5AC-C5C8-9460-57CCE4219D8E}"/>
              </a:ext>
            </a:extLst>
          </p:cNvPr>
          <p:cNvSpPr/>
          <p:nvPr/>
        </p:nvSpPr>
        <p:spPr>
          <a:xfrm>
            <a:off x="489204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 for each of the 5 labels separately</a:t>
            </a:r>
            <a:endParaRPr lang="en-US" sz="9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6A796D6-CBF9-EA36-4993-E5BF60D0A506}"/>
              </a:ext>
            </a:extLst>
          </p:cNvPr>
          <p:cNvSpPr/>
          <p:nvPr/>
        </p:nvSpPr>
        <p:spPr>
          <a:xfrm>
            <a:off x="6858000" y="182880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07A8269-AA63-3105-96AF-EFDFC08E59C9}"/>
              </a:ext>
            </a:extLst>
          </p:cNvPr>
          <p:cNvSpPr/>
          <p:nvPr/>
        </p:nvSpPr>
        <p:spPr>
          <a:xfrm>
            <a:off x="6858000" y="18288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E6D4823-D91F-6D43-2AB9-ED98BA16C06A}"/>
              </a:ext>
            </a:extLst>
          </p:cNvPr>
          <p:cNvSpPr/>
          <p:nvPr/>
        </p:nvSpPr>
        <p:spPr>
          <a:xfrm>
            <a:off x="699516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Failure Rate</a:t>
            </a:r>
            <a:endParaRPr lang="en-US" sz="12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B5482EC-7F19-7F9E-1937-EB08AC82B781}"/>
              </a:ext>
            </a:extLst>
          </p:cNvPr>
          <p:cNvSpPr/>
          <p:nvPr/>
        </p:nvSpPr>
        <p:spPr>
          <a:xfrm>
            <a:off x="699516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sentences where model output was unparseable JSON</a:t>
            </a:r>
            <a:endParaRPr lang="en-US" sz="9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F91DBD8-6D6A-4933-E8D5-8DCF9ED776C0}"/>
              </a:ext>
            </a:extLst>
          </p:cNvPr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Interpretability Tools</a:t>
            </a:r>
            <a:endParaRPr lang="en-US" sz="14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CB7856F1-D199-86C1-896A-E24F22127E5D}"/>
              </a:ext>
            </a:extLst>
          </p:cNvPr>
          <p:cNvSpPr/>
          <p:nvPr/>
        </p:nvSpPr>
        <p:spPr>
          <a:xfrm>
            <a:off x="548640" y="3108960"/>
            <a:ext cx="411480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B32C170-1E42-B027-D831-0F84C65C8D43}"/>
              </a:ext>
            </a:extLst>
          </p:cNvPr>
          <p:cNvSpPr/>
          <p:nvPr/>
        </p:nvSpPr>
        <p:spPr>
          <a:xfrm>
            <a:off x="73152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× 5 Confusion Matrix</a:t>
            </a:r>
            <a:endParaRPr lang="en-US" sz="13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A594412-22CF-972A-ADD0-03C9B1164E5E}"/>
              </a:ext>
            </a:extLst>
          </p:cNvPr>
          <p:cNvSpPr/>
          <p:nvPr/>
        </p:nvSpPr>
        <p:spPr>
          <a:xfrm>
            <a:off x="731520" y="34564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labels are systematically confused (e.g., AR-LAT ↔ EN, AR → AR-LAT). Essential for identifying error patterns beyond aggregate scores.</a:t>
            </a:r>
            <a:endParaRPr lang="en-US" sz="11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FAF2921-70C8-015B-6ABB-76A845A2EC8C}"/>
              </a:ext>
            </a:extLst>
          </p:cNvPr>
          <p:cNvSpPr/>
          <p:nvPr/>
        </p:nvSpPr>
        <p:spPr>
          <a:xfrm>
            <a:off x="4937760" y="3108960"/>
            <a:ext cx="384048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C4A415C-3EF0-EBA0-531D-8B724A94D95F}"/>
              </a:ext>
            </a:extLst>
          </p:cNvPr>
          <p:cNvSpPr/>
          <p:nvPr/>
        </p:nvSpPr>
        <p:spPr>
          <a:xfrm>
            <a:off x="512064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Error Analysis</a:t>
            </a:r>
            <a:endParaRPr lang="en-US" sz="13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706A16E1-8794-E954-4BA6-721957D5F211}"/>
              </a:ext>
            </a:extLst>
          </p:cNvPr>
          <p:cNvSpPr/>
          <p:nvPr/>
        </p:nvSpPr>
        <p:spPr>
          <a:xfrm>
            <a:off x="5120640" y="3456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error taxonomy with contrastive examples showing where models agree and disagree on ambiguous tokens.</a:t>
            </a:r>
            <a:endParaRPr lang="en-US" sz="11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CAA7B3B-CD03-1D9F-CC8C-8F447CD95883}"/>
              </a:ext>
            </a:extLst>
          </p:cNvPr>
          <p:cNvSpPr/>
          <p:nvPr/>
        </p:nvSpPr>
        <p:spPr>
          <a:xfrm>
            <a:off x="548640" y="4251960"/>
            <a:ext cx="8229600" cy="59436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EB2A781-B954-FA3D-68AD-073E3D1CF594}"/>
              </a:ext>
            </a:extLst>
          </p:cNvPr>
          <p:cNvSpPr/>
          <p:nvPr/>
        </p:nvSpPr>
        <p:spPr>
          <a:xfrm>
            <a:off x="73152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set?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F1 are standard for token-level LID. Macro F1 prevents high-frequency labels (EN, OTHER) from masking poor performance on rare but important labels (AR-LAT, OL). Parse failure rate is non-standard but essential for LLM evaluation — invalid outputs can't be scored at all.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9729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Overall Performance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754880" cy="248716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1005840"/>
            <a:ext cx="2834640" cy="10972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97280"/>
            <a:ext cx="228600" cy="2286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644652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Macro F1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4652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ZS: 0.683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446520" y="1627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4652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FS: 0.763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035040" y="2286000"/>
            <a:ext cx="2834640" cy="73152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3774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46520" y="2359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≠ better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4652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failures nearly double for GPT o4-mini (7% → 13%)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3840480"/>
          <a:ext cx="841248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Per-Label F1 Breakdown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24871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4023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&amp; H3 Supported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 F1 (0.46–0.49) far below EN (0.93–0.94). Arabizi is the hardest label for every model.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754880" y="3931920"/>
            <a:ext cx="3931920" cy="91440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4937760" y="4023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(RQ2) Not Supported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ranks 1st on AR F1, but LLaMA FS is highest on AR-LAT. Script recognition ≠ Arabizi recognition.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35-Point Gap &amp; Gold-Label Discovery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50292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960120"/>
            <a:ext cx="3291840" cy="201168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0972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076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Discovery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760720" y="1463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55.1% of AR-labeled tokens in the AR-EN CS corpus are actually written in Latin script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corpus labeled by language identity, not orthographic script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models labeled these as AR-LAT, they were following instructions correctly!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Corrected Evaluation (re-scored, no new API calls)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29360"/>
              </p:ext>
            </p:extLst>
          </p:nvPr>
        </p:nvGraphicFramePr>
        <p:xfrm>
          <a:off x="457200" y="3559026"/>
          <a:ext cx="4572000" cy="1554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6217920" y="3566160"/>
            <a:ext cx="2560320" cy="1417320"/>
          </a:xfrm>
          <a:prstGeom prst="rect">
            <a:avLst/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621792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+19pp</a:t>
            </a:r>
            <a:endParaRPr lang="en-US" sz="4000" dirty="0"/>
          </a:p>
        </p:txBody>
      </p:sp>
      <p:sp>
        <p:nvSpPr>
          <p:cNvPr id="14" name="Text 8"/>
          <p:cNvSpPr/>
          <p:nvPr/>
        </p:nvSpPr>
        <p:spPr>
          <a:xfrm>
            <a:off x="621792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accuracy gain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gold-label correction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Analysis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Gold-Label Correction (2,320 errors remain)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65760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→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→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→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→ 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→ AR-LAT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5029200" y="1005840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Examples (116 tokens with model disagreement)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6949440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"Allah"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Significance &amp; Ablation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McNemar's Test: Zero-Shot vs. Few-Shot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657600" cy="1295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Pairwise Model Comparison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1813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 vs 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 vs 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 vs 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vs 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vs 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vs 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4008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Tiers Emerge: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2560320" y="2926080"/>
            <a:ext cx="22860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7"/>
          <p:cNvSpPr/>
          <p:nvPr/>
        </p:nvSpPr>
        <p:spPr>
          <a:xfrm>
            <a:off x="25603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Claude ≈ GPT o4-mini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0" y="2926080"/>
            <a:ext cx="14630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02920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Gemini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675120" y="2926080"/>
            <a:ext cx="1463040" cy="4572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6751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LLaMA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Ablation: Targeted 10-Shot (Claude Sonnet)</a:t>
            </a:r>
            <a:endParaRPr lang="en-US" sz="13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4572000" cy="1036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(5 ex.)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(10 ex.)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5760720" y="3749040"/>
            <a:ext cx="301752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94360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failures halved (46 → 21)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macro F1 unchanged — short-token ambiguity (la, ana, en) is intrinsic, not a prompting problem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 Testing Summary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64008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RQ1-H1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 F1 &lt; AR/EN F1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051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178308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RQ1-H2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103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&gt; zero-shot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2514600"/>
            <a:ext cx="64008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RQ1-H3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Dataset-level performance differs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Supported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2461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" y="324612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RQ2-H1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3566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cross-model differences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724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RQ2-H2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AR model = best AR-LAT model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43600" y="3977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A13F5D-C88B-F076-8AAD-42F5F1F9AA08}"/>
              </a:ext>
            </a:extLst>
          </p:cNvPr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6C70C26-79AD-1410-19FD-9F750D9E2A7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0AAF56D-4764-F44E-700A-326986C43AC0}"/>
              </a:ext>
            </a:extLst>
          </p:cNvPr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679E9D1-08AF-C01B-AAD6-3008F5BFA84E}"/>
              </a:ext>
            </a:extLst>
          </p:cNvPr>
          <p:cNvSpPr/>
          <p:nvPr/>
        </p:nvSpPr>
        <p:spPr>
          <a:xfrm>
            <a:off x="548640" y="1051560"/>
            <a:ext cx="4114800" cy="34747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58C1335-9E02-C393-24E1-5E26C724A7AC}"/>
              </a:ext>
            </a:extLst>
          </p:cNvPr>
          <p:cNvSpPr/>
          <p:nvPr/>
        </p:nvSpPr>
        <p:spPr>
          <a:xfrm>
            <a:off x="548640" y="1051560"/>
            <a:ext cx="64008" cy="3474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D2B8F00-B0EC-B595-EF26-362199E73092}"/>
              </a:ext>
            </a:extLst>
          </p:cNvPr>
          <p:cNvSpPr/>
          <p:nvPr/>
        </p:nvSpPr>
        <p:spPr>
          <a:xfrm>
            <a:off x="7772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9E338C-8924-D700-E948-F522EA963F94}"/>
              </a:ext>
            </a:extLst>
          </p:cNvPr>
          <p:cNvSpPr/>
          <p:nvPr/>
        </p:nvSpPr>
        <p:spPr>
          <a:xfrm>
            <a:off x="777240" y="155448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sentences ≈ 10% of combined dataset; may not capture full CS distribution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EF0C595-7B3D-1D04-6F19-909603DE6B14}"/>
              </a:ext>
            </a:extLst>
          </p:cNvPr>
          <p:cNvSpPr/>
          <p:nvPr/>
        </p:nvSpPr>
        <p:spPr>
          <a:xfrm>
            <a:off x="777240" y="20299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failures: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7–13% across runs, not missing at random — complex CS sentences more likely to fail</a:t>
            </a: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886EC7-1C9C-B66F-26AF-1E83C32C351A}"/>
              </a:ext>
            </a:extLst>
          </p:cNvPr>
          <p:cNvSpPr/>
          <p:nvPr/>
        </p:nvSpPr>
        <p:spPr>
          <a:xfrm>
            <a:off x="777240" y="250545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only: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corpora are informal registers; no formal or spoken code-switching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904E4DA-FBB0-FB40-8311-7CCA350EF810}"/>
              </a:ext>
            </a:extLst>
          </p:cNvPr>
          <p:cNvSpPr/>
          <p:nvPr/>
        </p:nvSpPr>
        <p:spPr>
          <a:xfrm>
            <a:off x="777240" y="298094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ablation: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10-shot tested only on Claude Sonnet; may not generalize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26E7236-23DC-4CA5-2C04-C5D7E1EA627E}"/>
              </a:ext>
            </a:extLst>
          </p:cNvPr>
          <p:cNvSpPr/>
          <p:nvPr/>
        </p:nvSpPr>
        <p:spPr>
          <a:xfrm>
            <a:off x="777240" y="345643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 label sparsity: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gold OL tokens in eval set — F1 estimates unreliable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D9FD580-6B65-2B91-E19B-6F4624E218AB}"/>
              </a:ext>
            </a:extLst>
          </p:cNvPr>
          <p:cNvSpPr/>
          <p:nvPr/>
        </p:nvSpPr>
        <p:spPr>
          <a:xfrm>
            <a:off x="777240" y="393192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fine-tuned baselines: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zero/few-shot LLMs tested; mBERT/XLM-R may differ</a:t>
            </a:r>
            <a:endParaRPr lang="en-US" sz="1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38D1B85-20FA-9E31-660A-B8A2D74C27C5}"/>
              </a:ext>
            </a:extLst>
          </p:cNvPr>
          <p:cNvSpPr/>
          <p:nvPr/>
        </p:nvSpPr>
        <p:spPr>
          <a:xfrm>
            <a:off x="4937760" y="1051560"/>
            <a:ext cx="3840480" cy="347472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D8EE5CE-9BED-5DF1-D02E-86A8B2956A36}"/>
              </a:ext>
            </a:extLst>
          </p:cNvPr>
          <p:cNvSpPr/>
          <p:nvPr/>
        </p:nvSpPr>
        <p:spPr>
          <a:xfrm>
            <a:off x="4937760" y="1051560"/>
            <a:ext cx="64008" cy="3474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A41265A-E13D-D103-923B-8EBF05EF42D2}"/>
              </a:ext>
            </a:extLst>
          </p:cNvPr>
          <p:cNvSpPr/>
          <p:nvPr/>
        </p:nvSpPr>
        <p:spPr>
          <a:xfrm>
            <a:off x="516636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80C208C-04C7-8C52-7CED-4FFFE8A66B2C}"/>
              </a:ext>
            </a:extLst>
          </p:cNvPr>
          <p:cNvSpPr/>
          <p:nvPr/>
        </p:nvSpPr>
        <p:spPr>
          <a:xfrm>
            <a:off x="5166360" y="157276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0661659-9CF9-2E94-07F5-C2B4304F54AB}"/>
              </a:ext>
            </a:extLst>
          </p:cNvPr>
          <p:cNvSpPr/>
          <p:nvPr/>
        </p:nvSpPr>
        <p:spPr>
          <a:xfrm>
            <a:off x="516636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95CAFC3-EBA2-030C-77B3-09AABEE33624}"/>
              </a:ext>
            </a:extLst>
          </p:cNvPr>
          <p:cNvSpPr/>
          <p:nvPr/>
        </p:nvSpPr>
        <p:spPr>
          <a:xfrm>
            <a:off x="557784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other CS benchmarks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82891CC-334E-E9B0-C5C6-881DE5E1F596}"/>
              </a:ext>
            </a:extLst>
          </p:cNvPr>
          <p:cNvSpPr/>
          <p:nvPr/>
        </p:nvSpPr>
        <p:spPr>
          <a:xfrm>
            <a:off x="5577840" y="1801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Language-vs-script labeling may affect other corpora combining different annotation conventions</a:t>
            </a:r>
            <a:endParaRPr lang="en-US" sz="10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EF0835F-0E48-C9CF-0D00-04E8DDA47A38}"/>
              </a:ext>
            </a:extLst>
          </p:cNvPr>
          <p:cNvSpPr/>
          <p:nvPr/>
        </p:nvSpPr>
        <p:spPr>
          <a:xfrm>
            <a:off x="5166360" y="235000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5A7D03F-D0A9-BBCC-120C-D0C08D02B6DD}"/>
              </a:ext>
            </a:extLst>
          </p:cNvPr>
          <p:cNvSpPr/>
          <p:nvPr/>
        </p:nvSpPr>
        <p:spPr>
          <a:xfrm>
            <a:off x="516636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D0B68E1-CBB3-4F8D-1BA7-1AFEE313B4DA}"/>
              </a:ext>
            </a:extLst>
          </p:cNvPr>
          <p:cNvSpPr/>
          <p:nvPr/>
        </p:nvSpPr>
        <p:spPr>
          <a:xfrm>
            <a:off x="5577840" y="2331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 prompting</a:t>
            </a:r>
            <a:endParaRPr lang="en-US" sz="13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E256558-4A7D-0E79-4791-3F80B119AB1A}"/>
              </a:ext>
            </a:extLst>
          </p:cNvPr>
          <p:cNvSpPr/>
          <p:nvPr/>
        </p:nvSpPr>
        <p:spPr>
          <a:xfrm>
            <a:off x="5577840" y="2578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models to reason about surrounding tokens before labeling — may resolve short-token ambiguity</a:t>
            </a:r>
            <a:endParaRPr lang="en-US" sz="10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52EDD35-67FE-FDFB-A279-9E21AD546B7E}"/>
              </a:ext>
            </a:extLst>
          </p:cNvPr>
          <p:cNvSpPr/>
          <p:nvPr/>
        </p:nvSpPr>
        <p:spPr>
          <a:xfrm>
            <a:off x="5166360" y="312724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98F0700-A9E5-792B-B632-81F43076C334}"/>
              </a:ext>
            </a:extLst>
          </p:cNvPr>
          <p:cNvSpPr/>
          <p:nvPr/>
        </p:nvSpPr>
        <p:spPr>
          <a:xfrm>
            <a:off x="516636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4F90FE3-ED82-7A35-AC5F-5B677C94B2CA}"/>
              </a:ext>
            </a:extLst>
          </p:cNvPr>
          <p:cNvSpPr/>
          <p:nvPr/>
        </p:nvSpPr>
        <p:spPr>
          <a:xfrm>
            <a:off x="5577840" y="3108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Fine-tuned sequence labelers</a:t>
            </a:r>
            <a:endParaRPr lang="en-US" sz="13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5CBC28A-8326-6458-98EA-AE73CD316E13}"/>
              </a:ext>
            </a:extLst>
          </p:cNvPr>
          <p:cNvSpPr/>
          <p:nvPr/>
        </p:nvSpPr>
        <p:spPr>
          <a:xfrm>
            <a:off x="5577840" y="3355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 / XLM-RoBERTa with contextual objectives for comparison with LLM prompting</a:t>
            </a:r>
            <a:endParaRPr lang="en-US" sz="105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FDF7897-AEAF-BDF4-7A77-2252B5BB2B39}"/>
              </a:ext>
            </a:extLst>
          </p:cNvPr>
          <p:cNvSpPr/>
          <p:nvPr/>
        </p:nvSpPr>
        <p:spPr>
          <a:xfrm>
            <a:off x="5166360" y="39044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4EBC6FC8-C59C-F01B-1CFD-FE5D4FA43C4B}"/>
              </a:ext>
            </a:extLst>
          </p:cNvPr>
          <p:cNvSpPr/>
          <p:nvPr/>
        </p:nvSpPr>
        <p:spPr>
          <a:xfrm>
            <a:off x="516636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7AB0C754-8FE2-B305-F26F-69B70CC40E62}"/>
              </a:ext>
            </a:extLst>
          </p:cNvPr>
          <p:cNvSpPr/>
          <p:nvPr/>
        </p:nvSpPr>
        <p:spPr>
          <a:xfrm>
            <a:off x="557784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 few-shot composition</a:t>
            </a:r>
            <a:endParaRPr lang="en-US" sz="13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D4C05F7-CC36-7DA9-BDBE-C76064A42280}"/>
              </a:ext>
            </a:extLst>
          </p:cNvPr>
          <p:cNvSpPr/>
          <p:nvPr/>
        </p:nvSpPr>
        <p:spPr>
          <a:xfrm>
            <a:off x="557784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vary number and type of examples to find optimal format compliance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35726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024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 Conventions Matter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Gold-label inconsistency inflated error rates by 19pp. Language-vs-script labeling is a systemic risk in code-switching evaluation.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Are Better Than They Look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correction, all models achieve 92–95% accuracy. Claude Sonnet ranks first (macro F1 = 0.861).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578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Isn't Always Better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test: significant improvement for only 1 of 4 models. Token-level LID is sufficiently defined by label definitions alone.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355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&gt; Models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35-point dataset gap dwarfs the 7.5-point model spread. Dataset composition is a stronger predictor of difficulty than model choice.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1330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Short-Token Ambiguity Is Intrinsic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434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like la, ana, en remain misclassified even with targeted prompting. Needs contextual sequence labeling.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86200" y="9144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887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github.com/abojoudah/cs496-codeswitching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Joudeh  ·  Seyed Almadani  ·  Abdulaziz Mohammed  ·  Abdallah Almekhyal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 · Kuwait University · Spring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48F7FC33B57E4F9BB463C48FC662BE" ma:contentTypeVersion="13" ma:contentTypeDescription="Create a new document." ma:contentTypeScope="" ma:versionID="3d6081dca6c5b4b3a4fe865ccb46f40c">
  <xsd:schema xmlns:xsd="http://www.w3.org/2001/XMLSchema" xmlns:xs="http://www.w3.org/2001/XMLSchema" xmlns:p="http://schemas.microsoft.com/office/2006/metadata/properties" xmlns:ns3="2825310d-93ad-4a57-bad1-ff7ffabb64e0" xmlns:ns4="8e9c51b1-9d7d-459e-ac8e-6fe1ef248fcf" targetNamespace="http://schemas.microsoft.com/office/2006/metadata/properties" ma:root="true" ma:fieldsID="79d46efd0c364a0da07ae5175d8b57d8" ns3:_="" ns4:_="">
    <xsd:import namespace="2825310d-93ad-4a57-bad1-ff7ffabb64e0"/>
    <xsd:import namespace="8e9c51b1-9d7d-459e-ac8e-6fe1ef248fc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_activity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25310d-93ad-4a57-bad1-ff7ffabb64e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c51b1-9d7d-459e-ac8e-6fe1ef248f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9c51b1-9d7d-459e-ac8e-6fe1ef248fcf" xsi:nil="true"/>
  </documentManagement>
</p:properties>
</file>

<file path=customXml/itemProps1.xml><?xml version="1.0" encoding="utf-8"?>
<ds:datastoreItem xmlns:ds="http://schemas.openxmlformats.org/officeDocument/2006/customXml" ds:itemID="{A0234E6C-BED9-4238-956D-EDA129F1B9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25310d-93ad-4a57-bad1-ff7ffabb64e0"/>
    <ds:schemaRef ds:uri="8e9c51b1-9d7d-459e-ac8e-6fe1ef248f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F55C80-CEEC-4EED-B7EF-0E7836F6D0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772226-8A34-4CA8-A36F-79384D97EA4F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8e9c51b1-9d7d-459e-ac8e-6fe1ef248fcf"/>
    <ds:schemaRef ds:uri="http://schemas.openxmlformats.org/package/2006/metadata/core-properties"/>
    <ds:schemaRef ds:uri="http://purl.org/dc/elements/1.1/"/>
    <ds:schemaRef ds:uri="2825310d-93ad-4a57-bad1-ff7ffabb64e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1796</Words>
  <Application>Microsoft Office PowerPoint</Application>
  <PresentationFormat>On-screen Show (16:9)</PresentationFormat>
  <Paragraphs>515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Code-Switching in Arabic-English Tasks</dc:title>
  <dc:subject>PptxGenJS Presentation</dc:subject>
  <dc:creator>CS496 Team</dc:creator>
  <cp:lastModifiedBy>2212173741 Abdulaziz Mohammed</cp:lastModifiedBy>
  <cp:revision>2</cp:revision>
  <dcterms:created xsi:type="dcterms:W3CDTF">2026-05-06T04:39:36Z</dcterms:created>
  <dcterms:modified xsi:type="dcterms:W3CDTF">2026-05-06T07:20:02Z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0x0101005B48F7FC33B57E4F9BB463C48FC662BE</vt:lpwstr>
  </property>
</Properties>
</file>